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259" r:id="rId2"/>
    <p:sldId id="260" r:id="rId3"/>
    <p:sldId id="261" r:id="rId4"/>
    <p:sldId id="265" r:id="rId5"/>
    <p:sldId id="270" r:id="rId6"/>
    <p:sldId id="267" r:id="rId7"/>
    <p:sldId id="273" r:id="rId8"/>
    <p:sldId id="274" r:id="rId9"/>
    <p:sldId id="266" r:id="rId10"/>
    <p:sldId id="271" r:id="rId11"/>
    <p:sldId id="272" r:id="rId1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E1B221-F959-4DD3-A0D4-42218DAF93FD}">
          <p14:sldIdLst>
            <p14:sldId id="259"/>
            <p14:sldId id="260"/>
            <p14:sldId id="261"/>
            <p14:sldId id="265"/>
            <p14:sldId id="270"/>
            <p14:sldId id="267"/>
            <p14:sldId id="273"/>
            <p14:sldId id="274"/>
            <p14:sldId id="266"/>
          </p14:sldIdLst>
        </p14:section>
        <p14:section name="Untitled Section" id="{C5C13CEE-4A7C-48C2-B491-ADDACFF30AA7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relle Deutou" initials="AD" lastIdx="1" clrIdx="0">
    <p:extLst>
      <p:ext uri="{19B8F6BF-5375-455C-9EA6-DF929625EA0E}">
        <p15:presenceInfo xmlns:p15="http://schemas.microsoft.com/office/powerpoint/2012/main" userId="0d3f5772ded3917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5064" autoAdjust="0"/>
  </p:normalViewPr>
  <p:slideViewPr>
    <p:cSldViewPr>
      <p:cViewPr>
        <p:scale>
          <a:sx n="118" d="100"/>
          <a:sy n="118" d="100"/>
        </p:scale>
        <p:origin x="18" y="-7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elle Deutou" userId="0d3f5772ded3917f" providerId="LiveId" clId="{876BD541-DCE7-4285-86FC-6825BB2C03B3}"/>
    <pc:docChg chg="undo custSel modSld">
      <pc:chgData name="Aurelle Deutou" userId="0d3f5772ded3917f" providerId="LiveId" clId="{876BD541-DCE7-4285-86FC-6825BB2C03B3}" dt="2025-08-11T18:09:34.636" v="334" actId="14100"/>
      <pc:docMkLst>
        <pc:docMk/>
      </pc:docMkLst>
      <pc:sldChg chg="modSp mod">
        <pc:chgData name="Aurelle Deutou" userId="0d3f5772ded3917f" providerId="LiveId" clId="{876BD541-DCE7-4285-86FC-6825BB2C03B3}" dt="2025-08-11T14:30:29.675" v="289" actId="3626"/>
        <pc:sldMkLst>
          <pc:docMk/>
          <pc:sldMk cId="0" sldId="260"/>
        </pc:sldMkLst>
        <pc:spChg chg="mod">
          <ac:chgData name="Aurelle Deutou" userId="0d3f5772ded3917f" providerId="LiveId" clId="{876BD541-DCE7-4285-86FC-6825BB2C03B3}" dt="2025-08-11T14:30:29.675" v="289" actId="3626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Aurelle Deutou" userId="0d3f5772ded3917f" providerId="LiveId" clId="{876BD541-DCE7-4285-86FC-6825BB2C03B3}" dt="2025-08-10T23:03:18.699" v="54" actId="14100"/>
        <pc:sldMkLst>
          <pc:docMk/>
          <pc:sldMk cId="0" sldId="261"/>
        </pc:sldMkLst>
        <pc:spChg chg="del mod">
          <ac:chgData name="Aurelle Deutou" userId="0d3f5772ded3917f" providerId="LiveId" clId="{876BD541-DCE7-4285-86FC-6825BB2C03B3}" dt="2025-08-10T23:03:04.949" v="51" actId="478"/>
          <ac:spMkLst>
            <pc:docMk/>
            <pc:sldMk cId="0" sldId="261"/>
            <ac:spMk id="6" creationId="{00000000-0000-0000-0000-000000000000}"/>
          </ac:spMkLst>
        </pc:spChg>
        <pc:picChg chg="mod">
          <ac:chgData name="Aurelle Deutou" userId="0d3f5772ded3917f" providerId="LiveId" clId="{876BD541-DCE7-4285-86FC-6825BB2C03B3}" dt="2025-08-10T23:03:18.699" v="54" actId="14100"/>
          <ac:picMkLst>
            <pc:docMk/>
            <pc:sldMk cId="0" sldId="261"/>
            <ac:picMk id="3" creationId="{2B98FAA7-6FB4-3106-3629-D24BB197616D}"/>
          </ac:picMkLst>
        </pc:picChg>
      </pc:sldChg>
      <pc:sldChg chg="modSp mod">
        <pc:chgData name="Aurelle Deutou" userId="0d3f5772ded3917f" providerId="LiveId" clId="{876BD541-DCE7-4285-86FC-6825BB2C03B3}" dt="2025-08-11T14:07:34.672" v="249"/>
        <pc:sldMkLst>
          <pc:docMk/>
          <pc:sldMk cId="0" sldId="267"/>
        </pc:sldMkLst>
        <pc:spChg chg="mod">
          <ac:chgData name="Aurelle Deutou" userId="0d3f5772ded3917f" providerId="LiveId" clId="{876BD541-DCE7-4285-86FC-6825BB2C03B3}" dt="2025-08-11T14:07:34.672" v="249"/>
          <ac:spMkLst>
            <pc:docMk/>
            <pc:sldMk cId="0" sldId="267"/>
            <ac:spMk id="3" creationId="{DC2A7CBA-E6C7-05CA-D857-2D00373C6F31}"/>
          </ac:spMkLst>
        </pc:spChg>
      </pc:sldChg>
      <pc:sldChg chg="modSp mod">
        <pc:chgData name="Aurelle Deutou" userId="0d3f5772ded3917f" providerId="LiveId" clId="{876BD541-DCE7-4285-86FC-6825BB2C03B3}" dt="2025-08-11T18:09:34.636" v="334" actId="14100"/>
        <pc:sldMkLst>
          <pc:docMk/>
          <pc:sldMk cId="629304296" sldId="271"/>
        </pc:sldMkLst>
        <pc:picChg chg="mod">
          <ac:chgData name="Aurelle Deutou" userId="0d3f5772ded3917f" providerId="LiveId" clId="{876BD541-DCE7-4285-86FC-6825BB2C03B3}" dt="2025-08-11T18:09:34.636" v="334" actId="14100"/>
          <ac:picMkLst>
            <pc:docMk/>
            <pc:sldMk cId="629304296" sldId="271"/>
            <ac:picMk id="4" creationId="{E712210B-5640-6DB2-9F9A-CE6ADF689DA8}"/>
          </ac:picMkLst>
        </pc:picChg>
      </pc:sldChg>
      <pc:sldChg chg="addSp delSp modSp mod">
        <pc:chgData name="Aurelle Deutou" userId="0d3f5772ded3917f" providerId="LiveId" clId="{876BD541-DCE7-4285-86FC-6825BB2C03B3}" dt="2025-08-11T17:57:33.567" v="332" actId="14100"/>
        <pc:sldMkLst>
          <pc:docMk/>
          <pc:sldMk cId="629304296" sldId="272"/>
        </pc:sldMkLst>
        <pc:spChg chg="mod">
          <ac:chgData name="Aurelle Deutou" userId="0d3f5772ded3917f" providerId="LiveId" clId="{876BD541-DCE7-4285-86FC-6825BB2C03B3}" dt="2025-08-11T17:57:18.600" v="329" actId="20577"/>
          <ac:spMkLst>
            <pc:docMk/>
            <pc:sldMk cId="629304296" sldId="272"/>
            <ac:spMk id="8" creationId="{BA48FDE2-35A3-D1E7-2C1C-D54AF19B03CF}"/>
          </ac:spMkLst>
        </pc:spChg>
        <pc:picChg chg="add mod">
          <ac:chgData name="Aurelle Deutou" userId="0d3f5772ded3917f" providerId="LiveId" clId="{876BD541-DCE7-4285-86FC-6825BB2C03B3}" dt="2025-08-11T17:57:33.567" v="332" actId="14100"/>
          <ac:picMkLst>
            <pc:docMk/>
            <pc:sldMk cId="629304296" sldId="272"/>
            <ac:picMk id="3" creationId="{F72F66BB-8B82-7203-DD60-64EEE1DD0260}"/>
          </ac:picMkLst>
        </pc:picChg>
        <pc:picChg chg="del">
          <ac:chgData name="Aurelle Deutou" userId="0d3f5772ded3917f" providerId="LiveId" clId="{876BD541-DCE7-4285-86FC-6825BB2C03B3}" dt="2025-08-11T17:55:22.209" v="290" actId="478"/>
          <ac:picMkLst>
            <pc:docMk/>
            <pc:sldMk cId="629304296" sldId="272"/>
            <ac:picMk id="7" creationId="{7AE73912-0DAA-2323-0C34-3953E5F11A1B}"/>
          </ac:picMkLst>
        </pc:picChg>
      </pc:sldChg>
      <pc:sldChg chg="modSp mod">
        <pc:chgData name="Aurelle Deutou" userId="0d3f5772ded3917f" providerId="LiveId" clId="{876BD541-DCE7-4285-86FC-6825BB2C03B3}" dt="2025-08-11T14:11:35.518" v="288" actId="20577"/>
        <pc:sldMkLst>
          <pc:docMk/>
          <pc:sldMk cId="2722754110" sldId="273"/>
        </pc:sldMkLst>
        <pc:spChg chg="mod">
          <ac:chgData name="Aurelle Deutou" userId="0d3f5772ded3917f" providerId="LiveId" clId="{876BD541-DCE7-4285-86FC-6825BB2C03B3}" dt="2025-08-11T14:11:35.518" v="288" actId="20577"/>
          <ac:spMkLst>
            <pc:docMk/>
            <pc:sldMk cId="2722754110" sldId="273"/>
            <ac:spMk id="8" creationId="{007B451A-11BA-8617-C053-535EAC6E2D0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DA9B94-1FF0-4D30-A1D7-DC7FA1BF3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01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algn="r"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algn="r"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F44EAF3-3EC6-4DD8-99FA-98A4BA766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116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FFD5F2D6-A6D2-4223-AA4D-70FEA63A9A49}" type="slidenum">
              <a:rPr lang="en-US" smtClean="0"/>
              <a:pPr defTabSz="965200"/>
              <a:t>1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dirty="0"/>
              <a:t>Instructions:</a:t>
            </a:r>
            <a:r>
              <a:rPr lang="en-US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aseline="0" dirty="0"/>
              <a:t>Customize the black text. Be sure to include the names of all team members.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Instructions:</a:t>
            </a:r>
            <a:r>
              <a:rPr lang="en-US" dirty="0"/>
              <a:t>  </a:t>
            </a:r>
          </a:p>
          <a:p>
            <a:r>
              <a:rPr lang="en-US" dirty="0"/>
              <a:t>Keep</a:t>
            </a:r>
            <a:r>
              <a:rPr lang="en-US" baseline="0" dirty="0"/>
              <a:t> it direct to the point, take onboard any feedback you got from Part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Instructions:</a:t>
            </a:r>
            <a:r>
              <a:rPr lang="en-US" dirty="0"/>
              <a:t>  </a:t>
            </a:r>
          </a:p>
          <a:p>
            <a:r>
              <a:rPr lang="en-US" dirty="0"/>
              <a:t>The use case diagram should show all the actors and the sub-systems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Instructions:</a:t>
            </a:r>
            <a:r>
              <a:rPr lang="en-US" dirty="0"/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List the top six use cases.  </a:t>
            </a:r>
            <a:r>
              <a:rPr lang="en-US" baseline="0" dirty="0"/>
              <a:t>In your brief description focus on what system response is to user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</a:t>
            </a: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 your description focus on what system response is to user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Instructions:</a:t>
            </a:r>
            <a:r>
              <a:rPr lang="en-US" dirty="0"/>
              <a:t>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Present one formal use case description, Clarify how scenario and triggering event applies to your case in addition to system flow with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Instructions:</a:t>
            </a:r>
            <a:r>
              <a:rPr lang="en-US" dirty="0"/>
              <a:t>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pre-conditions and post conditions of system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Instructions:</a:t>
            </a:r>
            <a:r>
              <a:rPr lang="en-US" dirty="0"/>
              <a:t>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Only classes with attributes and relationships (no methods)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why you think these</a:t>
            </a:r>
            <a:r>
              <a:rPr lang="en-US" baseline="0" dirty="0"/>
              <a:t> classes are relevant and the attributes you chose per class, also why you chose  these types of  associations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15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Instructions:</a:t>
            </a:r>
            <a:r>
              <a:rPr lang="en-US" dirty="0"/>
              <a:t>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why you think these</a:t>
            </a:r>
            <a:r>
              <a:rPr lang="en-US" baseline="0" dirty="0"/>
              <a:t> classes are relevant and the methods you chose per class, also why you chose  these types of  associations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Instructions: </a:t>
            </a:r>
            <a:r>
              <a:rPr lang="en-US" b="0" dirty="0"/>
              <a:t>Mention the use case name</a:t>
            </a:r>
          </a:p>
          <a:p>
            <a:r>
              <a:rPr lang="en-US" b="0" dirty="0"/>
              <a:t>Set a Hyper link to launch your SD if two large </a:t>
            </a:r>
          </a:p>
          <a:p>
            <a:r>
              <a:rPr lang="en-US" b="0" dirty="0"/>
              <a:t>Show Input / Output messages to and from the system </a:t>
            </a:r>
          </a:p>
          <a:p>
            <a:r>
              <a:rPr lang="en-US" dirty="0"/>
              <a:t>Discuss why you chose it and what value does it add to the project when developers read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Instructions: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Mention which object you chose.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 </a:t>
            </a:r>
            <a:r>
              <a:rPr lang="en-US" baseline="0" dirty="0"/>
              <a:t>Discuss why you chose this object and what value does the state machine diagram bring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BD31C90-C29F-40CC-8546-3DCC13C8DC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96DE4-C91C-46FE-96F4-4D8414AA86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662" y="1214422"/>
            <a:ext cx="4064026" cy="49180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8" y="1214422"/>
            <a:ext cx="3954460" cy="49180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FEFDC-F6FC-45B5-B090-A2DBBDE795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xfrm>
            <a:off x="1258888" y="6243638"/>
            <a:ext cx="5294312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February 9, 2009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328C9E-7602-4CE5-B465-F95D14F014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C38F3-DF6C-4ED1-A928-9542F23C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ltGray">
          <a:xfrm>
            <a:off x="500063" y="2857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ltGray">
          <a:xfrm>
            <a:off x="642938" y="642938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ltGray">
          <a:xfrm>
            <a:off x="142875" y="5715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gray">
          <a:xfrm>
            <a:off x="785813" y="214313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gray">
          <a:xfrm>
            <a:off x="571500" y="9286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1563" y="1143000"/>
            <a:ext cx="7883525" cy="498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AA4AC70-2414-43E2-8EEC-6DF1CB9117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7" r:id="rId1"/>
    <p:sldLayoutId id="2147484079" r:id="rId2"/>
    <p:sldLayoutId id="2147484081" r:id="rId3"/>
    <p:sldLayoutId id="2147484083" r:id="rId4"/>
    <p:sldLayoutId id="2147484098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i/c/0d3f5772ded3917f/EfLQ03z46m5JtRFLuKleKZgBvs75NXxhYH0OLypVGDu-pQ?e=neejV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i/c/0d3f5772ded3917f/EfTGsG0-qA1Lv1Rc34S_or4BYT9gzRe_ivuljkPYMJVNTw?e=g952mJ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u/c/0d3f5772ded3917f/EQ1PiPIAEE1OjhVQXEENCyMBp1FLx6539WlkEL1FDu9lHA?e=W1jv5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2A8B01-F77C-4DA0-AD10-D90938D6C87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9592" y="154741"/>
            <a:ext cx="7992888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90"/>
                </a:solidFill>
              </a:rPr>
              <a:t>COMP 225-hybrid: Software Engineering Methodologies</a:t>
            </a:r>
            <a:br>
              <a:rPr lang="en-US" sz="2400" b="1" dirty="0">
                <a:solidFill>
                  <a:srgbClr val="000090"/>
                </a:solidFill>
              </a:rPr>
            </a:br>
            <a:br>
              <a:rPr lang="en-US" sz="2400" b="1" dirty="0">
                <a:solidFill>
                  <a:srgbClr val="000090"/>
                </a:solidFill>
              </a:rPr>
            </a:br>
            <a:r>
              <a:rPr lang="en-CA" sz="2400" b="1" dirty="0"/>
              <a:t>Software Requirements Specification (SRS) </a:t>
            </a:r>
            <a:endParaRPr lang="en-US" sz="2400" b="1" dirty="0"/>
          </a:p>
          <a:p>
            <a:endParaRPr lang="en-US" sz="2400" dirty="0"/>
          </a:p>
          <a:p>
            <a:r>
              <a:rPr lang="en-US" sz="2400" dirty="0"/>
              <a:t>Name of project: </a:t>
            </a:r>
            <a:r>
              <a:rPr lang="en-CA" sz="2400" b="0" i="0" dirty="0">
                <a:solidFill>
                  <a:srgbClr val="C00000"/>
                </a:solidFill>
                <a:effectLst/>
                <a:latin typeface="quote-cjk-patch"/>
              </a:rPr>
              <a:t>Intelligent Freight Logistics Dispatch System (IFLDS)</a:t>
            </a:r>
            <a:br>
              <a:rPr lang="en-US" sz="2400" dirty="0"/>
            </a:br>
            <a:br>
              <a:rPr lang="en-US" sz="2400" dirty="0"/>
            </a:br>
            <a:endParaRPr lang="en-US" dirty="0"/>
          </a:p>
          <a:p>
            <a:r>
              <a:rPr lang="en-US" dirty="0"/>
              <a:t>Presented by:</a:t>
            </a:r>
          </a:p>
          <a:p>
            <a:br>
              <a:rPr lang="en-US" dirty="0"/>
            </a:br>
            <a:r>
              <a:rPr lang="en-US" dirty="0"/>
              <a:t>Name	                                              Student #</a:t>
            </a:r>
          </a:p>
          <a:p>
            <a:r>
              <a:rPr lang="en-US" dirty="0">
                <a:solidFill>
                  <a:schemeClr val="bg2"/>
                </a:solidFill>
              </a:rPr>
              <a:t>Moesha Aurelle Emaleu Deutou              301444365</a:t>
            </a: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br>
              <a:rPr lang="en-US" dirty="0"/>
            </a:br>
            <a:r>
              <a:rPr lang="en-US" dirty="0"/>
              <a:t>Date: August 11</a:t>
            </a:r>
            <a:r>
              <a:rPr lang="en-US" baseline="30000" dirty="0"/>
              <a:t>th,</a:t>
            </a:r>
            <a:r>
              <a:rPr lang="en-US" dirty="0"/>
              <a:t> 2025</a:t>
            </a:r>
          </a:p>
          <a:p>
            <a:r>
              <a:rPr lang="en-US" dirty="0"/>
              <a:t>Section #: 005</a:t>
            </a:r>
          </a:p>
          <a:p>
            <a:r>
              <a:rPr lang="en-US" dirty="0"/>
              <a:t>Semester: Summer 2025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545" y="1052736"/>
            <a:ext cx="7758430" cy="5328592"/>
          </a:xfrm>
        </p:spPr>
        <p:txBody>
          <a:bodyPr/>
          <a:lstStyle/>
          <a:p>
            <a:r>
              <a:rPr lang="en-CA" sz="2400" u="sng" dirty="0">
                <a:solidFill>
                  <a:srgbClr val="000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0" indent="0">
              <a:buNone/>
            </a:pPr>
            <a:r>
              <a:rPr lang="en-CA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Freight Logistics Dispatch System (IFLDS) revolutionizes freight logistics through AI-driven automation, matching shipments to drivers in under 2 seconds by analyzing proximity, capacity, and compliance data, far surpassing the industry's 5-minute standard. Its dynamic route optimization reduces fuel costs by 15-20% by accounting for real-time traffic and weather conditions, while integrated GPS tracking provides exceptional 5-minute ETA accuracy and automated delivery notifications. The system ensures compliance through blockchain-secured proof of delivery and automated Hours of Service monitoring, minimizing regulatory risks. Scalable for fleets of up to 500 vehicles and designed for global expansion, IFLDS delivers 15% annual cost reductions while maintaining 95% on-time delivery rates, setting a new benchmark for operational efficiency, transparency, and reliability in logistics management.</a:t>
            </a:r>
            <a:endParaRPr lang="en-C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2400" u="sng" dirty="0">
                <a:solidFill>
                  <a:srgbClr val="000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pPr marL="0" indent="0">
              <a:buNone/>
            </a:pP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CA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Freight Logistics Dispatch System (IFLDS) </a:t>
            </a: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AI-powered platform that transforms freight operations through three core components:</a:t>
            </a:r>
            <a:r>
              <a:rPr lang="en-CA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dispatcher dashboard with AI-driven cargo-driver matching,</a:t>
            </a:r>
            <a:r>
              <a:rPr lang="en-CA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 </a:t>
            </a: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driver mobile app with real-time navigation and digital proof-of-delivery, and </a:t>
            </a:r>
            <a:r>
              <a:rPr lang="en-CA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portal for live tracking. It delivers 15-20% cost savings through dynamic route optimization, reduces manual workloads by 70%, and achieves 95% automation accuracy. Supporting 500+ concurrent users with &lt;300ms response times, IFLDS integrates with Google Maps, Twilio, and payment processors while complying with FMCSA/GDPR. Designed for mid-sized fleets (100+ vehicles), it offers an 18-month payback period and 220% 5-year ROI, improving on-time deliveries by 20% with 90% driver adoption targets. The initial release does not include predictive maintenance, ERP integrations, or multilingual support.</a:t>
            </a:r>
          </a:p>
          <a:p>
            <a:pPr marL="0" indent="0">
              <a:buNone/>
            </a:pP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the full interactive System diagram </a:t>
            </a:r>
            <a:r>
              <a:rPr lang="en-CA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here</a:t>
            </a: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CA" sz="1400" dirty="0">
              <a:solidFill>
                <a:srgbClr val="000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CA" sz="2400" dirty="0">
              <a:solidFill>
                <a:srgbClr val="000090"/>
              </a:solidFill>
            </a:endParaRPr>
          </a:p>
          <a:p>
            <a:endParaRPr lang="en-CA" sz="2400" u="sng" dirty="0">
              <a:solidFill>
                <a:srgbClr val="000090"/>
              </a:solidFill>
            </a:endParaRPr>
          </a:p>
          <a:p>
            <a:endParaRPr lang="en-CA" sz="2400" u="sng" dirty="0">
              <a:solidFill>
                <a:srgbClr val="000090"/>
              </a:solidFill>
            </a:endParaRPr>
          </a:p>
          <a:p>
            <a:endParaRPr lang="en-CA" sz="2400" u="sng" dirty="0">
              <a:solidFill>
                <a:srgbClr val="000090"/>
              </a:solidFill>
            </a:endParaRPr>
          </a:p>
          <a:p>
            <a:pPr marL="0" indent="0">
              <a:buNone/>
            </a:pPr>
            <a:endParaRPr lang="en-CA" sz="2000" dirty="0">
              <a:solidFill>
                <a:srgbClr val="00009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Packaged Use Case Diagram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8FAA7-6FB4-3106-3629-D24BB1976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201284"/>
            <a:ext cx="6624736" cy="50423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260648"/>
            <a:ext cx="7793037" cy="642937"/>
          </a:xfrm>
        </p:spPr>
        <p:txBody>
          <a:bodyPr/>
          <a:lstStyle/>
          <a:p>
            <a:r>
              <a:rPr lang="en-US" dirty="0"/>
              <a:t>Use Cases Brief Descriptions </a:t>
            </a:r>
            <a:r>
              <a:rPr lang="en-US" sz="2400" dirty="0"/>
              <a:t>only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065526"/>
              </p:ext>
            </p:extLst>
          </p:nvPr>
        </p:nvGraphicFramePr>
        <p:xfrm>
          <a:off x="683568" y="1484786"/>
          <a:ext cx="8064895" cy="3956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098218187"/>
                    </a:ext>
                  </a:extLst>
                </a:gridCol>
                <a:gridCol w="1589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6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009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 Use Case name</a:t>
                      </a:r>
                      <a:endParaRPr lang="en-CA" sz="1400" dirty="0">
                        <a:solidFill>
                          <a:srgbClr val="000090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solidFill>
                            <a:srgbClr val="00009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Actors</a:t>
                      </a:r>
                      <a:endParaRPr lang="en-CA" sz="1400" dirty="0">
                        <a:solidFill>
                          <a:srgbClr val="000090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9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Brief  Description </a:t>
                      </a:r>
                      <a:endParaRPr lang="en-CA" sz="1400" dirty="0">
                        <a:solidFill>
                          <a:srgbClr val="000090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4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 Freight Task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Dispatcher, Driver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matches shipments with optimal drivers (50-mile radius, 20% buffer) and notifies both parties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64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Delivery Route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Fleet Manager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3 AI-powered routes considering traffic/weather, then updates driver GPS in real-time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64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 Proof of Delivery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Validates and stores digital proof (photo/signature) with blockchain timestamping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4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4"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Shipment Status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Customer, Dispatcher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real-time GPS tracking with automated delay alerts (&gt;15 mins threshold)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64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5"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Driver Availability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Adjusts fleet capacity metrics when drivers report status changes (On Duty/Break)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64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6"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Performance Reports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Logistics Admin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CA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Compiles KPIs (delivery times, fuel usage) into visualized PDF/Excel reports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Brief 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0167"/>
              </p:ext>
            </p:extLst>
          </p:nvPr>
        </p:nvGraphicFramePr>
        <p:xfrm>
          <a:off x="827584" y="1124744"/>
          <a:ext cx="7793038" cy="523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4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9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 Use Cases</a:t>
                      </a:r>
                      <a:endParaRPr lang="en-CA" sz="1400" dirty="0">
                        <a:solidFill>
                          <a:srgbClr val="000090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9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Brief  Description </a:t>
                      </a:r>
                      <a:endParaRPr lang="en-CA" sz="1400" dirty="0">
                        <a:solidFill>
                          <a:srgbClr val="000090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245">
                <a:tc>
                  <a:txBody>
                    <a:bodyPr/>
                    <a:lstStyle/>
                    <a:p>
                      <a:r>
                        <a:rPr lang="en-CA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 Freight Task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automatically selects the optimal driver within a 50-mile radius and 20% capacity buffer, sends an encrypted assignment to the driver’s mobile app, and updates the customer portal with the revised ETA.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r>
                        <a:rPr lang="en-CA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 Delivery Route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analyzes real-time traffic and weather data to generate three route options balancing fuel efficiency and delivery time, then pushes the optimal route directly to the driver’s GPS navigation system.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r>
                        <a:rPr lang="en-CA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 Proof of Delivery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Upon receiving a photo or signature, the system validates its metadata (location/timestamp), stores it in an immutable blockchain record, and triggers an automated notification to the customer confirming delivery completion.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r>
                        <a:rPr lang="en-CA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Shipment Status</a:t>
                      </a:r>
                      <a:endParaRPr lang="en-CA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aggregates live GPS and vehicle telemetry data to calculate a dynamic ETA with ±5-minute accuracy, proactively alerting customers via SMS/email if delays exceed 15 minutes.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r>
                        <a:rPr lang="en-CA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Driver Availability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drivers update their status, the system adjusts real-time fleet capacity metrics, triggers rebalancing alerts if coverage drops below thresholds, and logs break times for regulatory compliance.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852">
                <a:tc>
                  <a:txBody>
                    <a:bodyPr/>
                    <a:lstStyle/>
                    <a:p>
                      <a:r>
                        <a:rPr lang="en-CA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Fleet Reports</a:t>
                      </a:r>
                      <a:endParaRPr lang="en-CA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compiles key performance indicators (on-time rates, fuel consumption) into formatted PDF/Excel reports, automatically flagging statistical outliers like chronic delays for managerial review.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93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5039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Full Description (present one)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A7CBA-E6C7-05CA-D857-2D00373C6F31}"/>
              </a:ext>
            </a:extLst>
          </p:cNvPr>
          <p:cNvSpPr txBox="1"/>
          <p:nvPr/>
        </p:nvSpPr>
        <p:spPr>
          <a:xfrm>
            <a:off x="755576" y="1014473"/>
            <a:ext cx="7848872" cy="55280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Case: Assign Freight Delivery Task –Optimize  Driver Assignment (AFD-OA)</a:t>
            </a:r>
            <a:b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Iteration: 1, </a:t>
            </a:r>
            <a:r>
              <a:rPr lang="en-C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last modification: June 30, 2025</a:t>
            </a:r>
            <a:b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Primary Actor: </a:t>
            </a:r>
            <a:r>
              <a:rPr lang="en-C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Logistics Dispatcher (Sarah Lim)</a:t>
            </a:r>
            <a:endParaRPr lang="en-CA" sz="1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CA" sz="1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Triggering Event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 delivery request enters the dispatch queue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CA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Scenario:</a:t>
            </a:r>
            <a:endParaRPr lang="en-CA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dispatcher selects the delivery request from the dashboard.</a:t>
            </a:r>
            <a:endParaRPr lang="en-CA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evaluates: 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Driver proximity (within a 50-mile radius)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 drive hours (minimum 2 hours remaining)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 capacity (with a 20% buffer)</a:t>
            </a:r>
          </a:p>
          <a:p>
            <a:pPr marL="228600" lvl="0" indent="-22860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system displays the top 3 driver matches with estimated ETAs.</a:t>
            </a:r>
          </a:p>
          <a:p>
            <a:pPr marL="228600" lvl="0" indent="-22860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dispatcher confirms the assignment or manually overrides the system's suggestion.</a:t>
            </a:r>
            <a:endParaRPr lang="en-CA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LcParenR" startAt="5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then:</a:t>
            </a: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Logs the assignment in the audit trail for future reference (FR08)</a:t>
            </a:r>
            <a:endParaRPr lang="en-CA" sz="1200" b="1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Sends an encrypted push notification to the selected driver (FR06)</a:t>
            </a: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Updates the customer portal with the new estimated time of arrival (FR04)</a:t>
            </a:r>
            <a:endParaRPr lang="en-CA" sz="12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en-CA" sz="1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Preconditions</a:t>
            </a:r>
            <a:endParaRPr lang="en-CA" sz="1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Dispatcher is authenticated (FR09)</a:t>
            </a:r>
            <a:endParaRPr lang="en-CA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least one pending delivery exists</a:t>
            </a:r>
            <a:endParaRPr lang="en-CA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Driver GPS and hours-of-service (HOS) data are current</a:t>
            </a:r>
            <a:endParaRPr lang="en-CA" sz="1400" kern="100" dirty="0">
              <a:solidFill>
                <a:srgbClr val="40404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2"/>
            </a:pPr>
            <a:r>
              <a:rPr lang="en-CA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Exceptions:</a:t>
            </a:r>
            <a:endParaRPr lang="en-CA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available drivers meet the criteria: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alerts dispatcher to expand the search radius or delay the assignment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Driver rejects the assignment: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notifies dispatcher and suggests the next-best alternative driver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endParaRPr lang="en-C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Full Description </a:t>
            </a:r>
            <a:r>
              <a:rPr lang="en-US" sz="2000"/>
              <a:t>(Continued)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B451A-11BA-8617-C053-535EAC6E2D03}"/>
              </a:ext>
            </a:extLst>
          </p:cNvPr>
          <p:cNvSpPr txBox="1"/>
          <p:nvPr/>
        </p:nvSpPr>
        <p:spPr>
          <a:xfrm>
            <a:off x="675481" y="1340768"/>
            <a:ext cx="7793038" cy="4168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+mj-lt"/>
              <a:buAutoNum type="alphaLcParenR" startAt="3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GPS signal is lost: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uses the last known location and prompts the dispatcher to input a ZIP code as a fallback</a:t>
            </a:r>
            <a:endParaRPr lang="en-CA" sz="1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CA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Priority: </a:t>
            </a: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(Core functionality for first release)</a:t>
            </a:r>
            <a:br>
              <a:rPr lang="en-CA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Frequency of Use: </a:t>
            </a: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50–100 times daily during peak hours</a:t>
            </a:r>
            <a:br>
              <a:rPr lang="en-CA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Channel to Primary Actor: </a:t>
            </a: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Web-based dispatch dashboard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</a:pPr>
            <a: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Actors:</a:t>
            </a:r>
            <a:endParaRPr lang="en-C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Fleet Manager (Daniel Chou) - manages exception scenarios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 Service (e.g., Twilio API) - handles delivery of push alerts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5"/>
            </a:pPr>
            <a:r>
              <a:rPr lang="en-CA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Issues:</a:t>
            </a:r>
            <a:endParaRPr lang="en-C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Optimal refresh rate for driver location updates (currently set at 15 seconds)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Handling assignment logic when more than 80% of drivers are already at capacity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CA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Verification and audit trail policy for manual dispatcher overrides</a:t>
            </a:r>
            <a:endParaRPr lang="en-CA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the full interactive SwimLane activity diagram </a:t>
            </a:r>
            <a:r>
              <a:rPr lang="en-CA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here</a:t>
            </a:r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CA" sz="1400" dirty="0">
              <a:solidFill>
                <a:srgbClr val="000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endParaRPr lang="en-CA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5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Class Diagram </a:t>
            </a:r>
            <a:r>
              <a:rPr lang="en-US" sz="2400" dirty="0"/>
              <a:t>first cut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3631CC-BC3E-2E85-8108-5890E42EF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9" y="980728"/>
            <a:ext cx="8271520" cy="5262910"/>
          </a:xfrm>
        </p:spPr>
        <p:txBody>
          <a:bodyPr/>
          <a:lstStyle/>
          <a:p>
            <a:pPr marL="0" indent="0">
              <a:buNone/>
            </a:pPr>
            <a:r>
              <a:rPr lang="en-CA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Figure 1: First Cut Domain Class Diagram (Noun Technique)</a:t>
            </a: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l">
              <a:spcAft>
                <a:spcPts val="1029"/>
              </a:spcAft>
              <a:buNone/>
            </a:pPr>
            <a:endParaRPr lang="en-CA" sz="1200" b="1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Aft>
                <a:spcPts val="1029"/>
              </a:spcAft>
              <a:buNone/>
            </a:pPr>
            <a:r>
              <a:rPr lang="en-CA" sz="12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Discussion on Class Relevance, Attributes, and Associations</a:t>
            </a:r>
          </a:p>
          <a:p>
            <a:pPr marL="0" indent="0" algn="l">
              <a:spcAft>
                <a:spcPts val="1029"/>
              </a:spcAft>
              <a:buNone/>
            </a:pP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Intelligent Freight Logistics Dispatch System (IFLDS) is a comprehensive solution that automates and optimizes freight logistics operations. At its core, the system features a </a:t>
            </a: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Dispatcher 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who creates and manages assignments, </a:t>
            </a: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Drivers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who execute deliveries using </a:t>
            </a: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Vehicles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(tracking capacity and maintenance), and </a:t>
            </a:r>
            <a:r>
              <a:rPr lang="en-CA" sz="1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DeliveryRequests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that specify cargo details and priorities. The system intelligently generates </a:t>
            </a: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Assignments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by matching requests with optimal </a:t>
            </a: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Routes 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(considering traffic and distance) while calculating accurate ETAs. Customers gain real-time visibility through the</a:t>
            </a: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CustomerPortal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while all actions are logged in the </a:t>
            </a:r>
            <a:r>
              <a:rPr lang="en-CA" sz="1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AuditTrail</a:t>
            </a:r>
            <a:r>
              <a:rPr lang="en-C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 compliance. Key capabilities include dynamic dispatching (FR01), AI-powered route optimization (FR02), live shipment tracking (FR04), and robust security (NFR02). Built as a scalable cloud platform, IFLDS enhances operational efficiency by reducing delays and fuel costs while ensuring full transparency and regulatory compliance across the logistics workflow.</a:t>
            </a: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5B8BD-D3B3-F52D-EB4C-658348D5B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40768"/>
            <a:ext cx="6840760" cy="3024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745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Class Diagram </a:t>
            </a:r>
            <a:r>
              <a:rPr lang="en-US" sz="2400" dirty="0"/>
              <a:t>with methods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3BEDDF-937A-101C-713D-9D5648A73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3" y="1143000"/>
            <a:ext cx="8415536" cy="5310336"/>
          </a:xfrm>
        </p:spPr>
        <p:txBody>
          <a:bodyPr/>
          <a:lstStyle/>
          <a:p>
            <a:pPr marL="0" indent="0">
              <a:buNone/>
            </a:pPr>
            <a:r>
              <a:rPr lang="en-CA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Figure 2: CLASS DIAGRAMS</a:t>
            </a: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CA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7B0C3-D631-4DE4-856F-77162FD39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7272808" cy="439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 </a:t>
            </a:r>
            <a:r>
              <a:rPr lang="en-US" sz="2000" dirty="0"/>
              <a:t>(present one)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DC0B94-992E-FED8-E624-925291024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042" y="1055687"/>
            <a:ext cx="7883525" cy="4989513"/>
          </a:xfrm>
        </p:spPr>
        <p:txBody>
          <a:bodyPr/>
          <a:lstStyle/>
          <a:p>
            <a:r>
              <a:rPr lang="en-CA" sz="1400" dirty="0"/>
              <a:t>Figure 3: View the full interactive sequence diagram </a:t>
            </a:r>
            <a:r>
              <a:rPr lang="en-CA" sz="1400" dirty="0">
                <a:hlinkClick r:id="rId3"/>
              </a:rPr>
              <a:t>here</a:t>
            </a:r>
            <a:r>
              <a:rPr lang="en-CA" sz="14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2210B-5640-6DB2-9F9A-CE6ADF689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78" y="1700807"/>
            <a:ext cx="7830643" cy="43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04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diagram </a:t>
            </a:r>
            <a:r>
              <a:rPr lang="en-US" sz="2000" dirty="0"/>
              <a:t>(present one)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48FDE2-35A3-D1E7-2C1C-D54AF19B0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127608"/>
            <a:ext cx="7883525" cy="4989513"/>
          </a:xfrm>
        </p:spPr>
        <p:txBody>
          <a:bodyPr/>
          <a:lstStyle/>
          <a:p>
            <a:r>
              <a:rPr lang="en-C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Delivery assignment State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F66BB-8B82-7203-DD60-64EEE1DD0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938" y="1433512"/>
            <a:ext cx="6733430" cy="44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0429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5694</TotalTime>
  <Words>1600</Words>
  <Application>Microsoft Office PowerPoint</Application>
  <PresentationFormat>On-screen Show (4:3)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quote-cjk-patch</vt:lpstr>
      <vt:lpstr>Tahoma</vt:lpstr>
      <vt:lpstr>Times New Roman</vt:lpstr>
      <vt:lpstr>Wingdings</vt:lpstr>
      <vt:lpstr>Blends</vt:lpstr>
      <vt:lpstr>PowerPoint Presentation</vt:lpstr>
      <vt:lpstr>Introduction</vt:lpstr>
      <vt:lpstr>Packaged Use Case Diagram </vt:lpstr>
      <vt:lpstr>Use Cases Brief Descriptions only 6</vt:lpstr>
      <vt:lpstr>Use Cases Brief Description</vt:lpstr>
      <vt:lpstr>Use Case Full Description (present one) </vt:lpstr>
      <vt:lpstr>Use Case Full Description (Continued) </vt:lpstr>
      <vt:lpstr>Domain Class Diagram first cut</vt:lpstr>
      <vt:lpstr>Domain Class Diagram with methods</vt:lpstr>
      <vt:lpstr>Sequence diagram (present one)</vt:lpstr>
      <vt:lpstr>State machine diagram (present one)</vt:lpstr>
    </vt:vector>
  </TitlesOfParts>
  <Manager/>
  <Company>Centennial College - Prgress Campus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Mayy Habayeb</dc:creator>
  <cp:keywords/>
  <dc:description/>
  <cp:lastModifiedBy>Aurelle Deutou</cp:lastModifiedBy>
  <cp:revision>192</cp:revision>
  <dcterms:created xsi:type="dcterms:W3CDTF">2009-01-07T15:13:31Z</dcterms:created>
  <dcterms:modified xsi:type="dcterms:W3CDTF">2025-08-11T19:20:04Z</dcterms:modified>
  <cp:category/>
</cp:coreProperties>
</file>